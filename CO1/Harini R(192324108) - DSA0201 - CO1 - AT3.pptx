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10287000" cx="18288000"/>
  <p:notesSz cx="6858000" cy="9144000"/>
  <p:embeddedFontLst>
    <p:embeddedFont>
      <p:font typeface="Helvetica Neue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hUz7mB/l/BE0KNabu/gNA22ycR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1F169A3-1DAD-4F29-A6E8-23A6636AC632}">
  <a:tblStyle styleId="{F1F169A3-1DAD-4F29-A6E8-23A6636AC632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CFD7E7"/>
          </a:solidFill>
        </a:fill>
      </a:tcStyle>
    </a:wholeTbl>
    <a:band1H>
      <a:tcTxStyle/>
    </a:band1H>
    <a:band2H>
      <a:tcTxStyle b="off" i="off"/>
      <a:tcStyle>
        <a:fill>
          <a:solidFill>
            <a:srgbClr val="E8ECF4"/>
          </a:solidFill>
        </a:fill>
      </a:tcStyle>
    </a:band2H>
    <a:band1V>
      <a:tcTxStyle/>
    </a:band1V>
    <a:band2V>
      <a:tcTxStyle/>
    </a:band2V>
    <a:lastCol>
      <a:tcTxStyle/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HelveticaNeue-bold.fntdata"/><Relationship Id="rId16" Type="http://schemas.openxmlformats.org/officeDocument/2006/relationships/font" Target="fonts/HelveticaNeue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HelveticaNeue-boldItalic.fntdata"/><Relationship Id="rId6" Type="http://schemas.openxmlformats.org/officeDocument/2006/relationships/slide" Target="slides/slide1.xml"/><Relationship Id="rId18" Type="http://schemas.openxmlformats.org/officeDocument/2006/relationships/font" Target="fonts/HelveticaNeue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8428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3" name="Google Shape;13;p18"/>
          <p:cNvSpPr txBox="1"/>
          <p:nvPr>
            <p:ph idx="1" type="body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1pPr>
            <a:lvl2pPr indent="-228600" lvl="1" marL="9144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2pPr>
            <a:lvl3pPr indent="-228600" lvl="2" marL="1371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3pPr>
            <a:lvl4pPr indent="-228600" lvl="3" marL="18288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4pPr>
            <a:lvl5pPr indent="-228600" lvl="4" marL="22860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8428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19"/>
          <p:cNvSpPr txBox="1"/>
          <p:nvPr>
            <p:ph idx="12" type="sldNum"/>
          </p:nvPr>
        </p:nvSpPr>
        <p:spPr>
          <a:xfrm>
            <a:off x="8428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0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1" name="Google Shape;21;p20"/>
          <p:cNvSpPr txBox="1"/>
          <p:nvPr>
            <p:ph idx="1" type="body"/>
          </p:nvPr>
        </p:nvSpPr>
        <p:spPr>
          <a:xfrm>
            <a:off x="722312" y="2906713"/>
            <a:ext cx="7772401" cy="150018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20"/>
          <p:cNvSpPr txBox="1"/>
          <p:nvPr>
            <p:ph idx="12" type="sldNum"/>
          </p:nvPr>
        </p:nvSpPr>
        <p:spPr>
          <a:xfrm>
            <a:off x="8428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1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/>
            </a:lvl1pPr>
            <a:lvl2pPr indent="-4064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  <a:defRPr sz="2800"/>
            </a:lvl2pPr>
            <a:lvl3pPr indent="-4064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/>
            </a:lvl3pPr>
            <a:lvl4pPr indent="-4064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  <a:defRPr sz="2800"/>
            </a:lvl4pPr>
            <a:lvl5pPr indent="-4064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»"/>
              <a:defRPr sz="2800"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21"/>
          <p:cNvSpPr txBox="1"/>
          <p:nvPr>
            <p:ph idx="12" type="sldNum"/>
          </p:nvPr>
        </p:nvSpPr>
        <p:spPr>
          <a:xfrm>
            <a:off x="8428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9" name="Google Shape;29;p22"/>
          <p:cNvSpPr txBox="1"/>
          <p:nvPr>
            <p:ph idx="1" type="body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22"/>
          <p:cNvSpPr txBox="1"/>
          <p:nvPr>
            <p:ph idx="2" type="body"/>
          </p:nvPr>
        </p:nvSpPr>
        <p:spPr>
          <a:xfrm>
            <a:off x="4645025" y="1535112"/>
            <a:ext cx="4041775" cy="6397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2" type="sldNum"/>
          </p:nvPr>
        </p:nvSpPr>
        <p:spPr>
          <a:xfrm>
            <a:off x="8428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3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4" name="Google Shape;34;p23"/>
          <p:cNvSpPr txBox="1"/>
          <p:nvPr>
            <p:ph idx="12" type="sldNum"/>
          </p:nvPr>
        </p:nvSpPr>
        <p:spPr>
          <a:xfrm>
            <a:off x="8428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4"/>
          <p:cNvSpPr txBox="1"/>
          <p:nvPr>
            <p:ph type="title"/>
          </p:nvPr>
        </p:nvSpPr>
        <p:spPr>
          <a:xfrm>
            <a:off x="457200" y="273050"/>
            <a:ext cx="3008315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7" name="Google Shape;37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2" type="body"/>
          </p:nvPr>
        </p:nvSpPr>
        <p:spPr>
          <a:xfrm>
            <a:off x="457198" y="1435100"/>
            <a:ext cx="3008317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24"/>
          <p:cNvSpPr txBox="1"/>
          <p:nvPr>
            <p:ph idx="12" type="sldNum"/>
          </p:nvPr>
        </p:nvSpPr>
        <p:spPr>
          <a:xfrm>
            <a:off x="8428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"/>
          <p:cNvSpPr txBox="1"/>
          <p:nvPr>
            <p:ph type="title"/>
          </p:nvPr>
        </p:nvSpPr>
        <p:spPr>
          <a:xfrm>
            <a:off x="1792288" y="4800600"/>
            <a:ext cx="5486402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2" name="Google Shape;42;p25"/>
          <p:cNvSpPr/>
          <p:nvPr>
            <p:ph idx="2" type="pic"/>
          </p:nvPr>
        </p:nvSpPr>
        <p:spPr>
          <a:xfrm>
            <a:off x="1792288" y="612775"/>
            <a:ext cx="5486402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25"/>
          <p:cNvSpPr txBox="1"/>
          <p:nvPr>
            <p:ph idx="1" type="body"/>
          </p:nvPr>
        </p:nvSpPr>
        <p:spPr>
          <a:xfrm>
            <a:off x="1792288" y="5367337"/>
            <a:ext cx="5486402" cy="804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5"/>
          <p:cNvSpPr txBox="1"/>
          <p:nvPr>
            <p:ph idx="12" type="sldNum"/>
          </p:nvPr>
        </p:nvSpPr>
        <p:spPr>
          <a:xfrm>
            <a:off x="8428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10207625" y="3657600"/>
            <a:ext cx="7162800" cy="6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3180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31800" lvl="3" marL="1828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31800" lvl="4" marL="2286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»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31800" lvl="5" marL="2743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31800" lvl="6" marL="3200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31800" lvl="7" marL="3657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31800" lvl="8" marL="4114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2" type="sldNum"/>
          </p:nvPr>
        </p:nvSpPr>
        <p:spPr>
          <a:xfrm>
            <a:off x="8428178" y="6414761"/>
            <a:ext cx="258623" cy="248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"/>
          <p:cNvSpPr/>
          <p:nvPr/>
        </p:nvSpPr>
        <p:spPr>
          <a:xfrm>
            <a:off x="3837745" y="1025690"/>
            <a:ext cx="10312388" cy="140264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" name="Google Shape;50;p1"/>
          <p:cNvSpPr/>
          <p:nvPr/>
        </p:nvSpPr>
        <p:spPr>
          <a:xfrm>
            <a:off x="8970126" y="6969676"/>
            <a:ext cx="47627" cy="281477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1" name="Google Shape;51;p1"/>
          <p:cNvSpPr txBox="1"/>
          <p:nvPr/>
        </p:nvSpPr>
        <p:spPr>
          <a:xfrm>
            <a:off x="5494956" y="2883881"/>
            <a:ext cx="7298088" cy="437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0" i="0" lang="en-IN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Artificial Intelligence &amp; Data Science  </a:t>
            </a:r>
            <a:endParaRPr/>
          </a:p>
        </p:txBody>
      </p:sp>
      <p:sp>
        <p:nvSpPr>
          <p:cNvPr id="52" name="Google Shape;52;p1"/>
          <p:cNvSpPr txBox="1"/>
          <p:nvPr/>
        </p:nvSpPr>
        <p:spPr>
          <a:xfrm>
            <a:off x="3559257" y="7907560"/>
            <a:ext cx="49206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6538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0" i="0" lang="en-IN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HARINI R (192324108)   </a:t>
            </a:r>
            <a:endParaRPr/>
          </a:p>
          <a:p>
            <a:pPr indent="0" lvl="0" marL="0" marR="0" rtl="0" algn="r">
              <a:lnSpc>
                <a:spcPct val="16538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" name="Google Shape;53;p1"/>
          <p:cNvSpPr txBox="1"/>
          <p:nvPr/>
        </p:nvSpPr>
        <p:spPr>
          <a:xfrm>
            <a:off x="9508019" y="7326672"/>
            <a:ext cx="59934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38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0" i="0" lang="en-IN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GUIDED BY:</a:t>
            </a:r>
            <a:endParaRPr/>
          </a:p>
          <a:p>
            <a:pPr indent="0" lvl="0" marL="0" marR="0" rtl="0" algn="l">
              <a:lnSpc>
                <a:spcPct val="16538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0" i="0" lang="en-IN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IN" sz="26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0" i="0" lang="en-IN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-IN" sz="2600">
                <a:latin typeface="Times New Roman"/>
                <a:ea typeface="Times New Roman"/>
                <a:cs typeface="Times New Roman"/>
                <a:sym typeface="Times New Roman"/>
              </a:rPr>
              <a:t> PARIMALA KANAGA DEVAN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6538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lang="en-IN" sz="2600">
                <a:latin typeface="Times New Roman"/>
                <a:ea typeface="Times New Roman"/>
                <a:cs typeface="Times New Roman"/>
                <a:sym typeface="Times New Roman"/>
              </a:rPr>
              <a:t>Professor CSE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" name="Google Shape;54;p1"/>
          <p:cNvSpPr txBox="1"/>
          <p:nvPr/>
        </p:nvSpPr>
        <p:spPr>
          <a:xfrm>
            <a:off x="2682875" y="3630374"/>
            <a:ext cx="129222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17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Times New Roman"/>
              <a:buNone/>
            </a:pPr>
            <a:r>
              <a:rPr b="1" lang="en-IN" sz="3900">
                <a:latin typeface="Times New Roman"/>
                <a:ea typeface="Times New Roman"/>
                <a:cs typeface="Times New Roman"/>
                <a:sym typeface="Times New Roman"/>
              </a:rPr>
              <a:t>GREEN COMPUTER VISION: ENERGY - EFFICIENT AI THROUGH MODEL OPTIMIZATION </a:t>
            </a:r>
            <a:endParaRPr/>
          </a:p>
        </p:txBody>
      </p:sp>
      <p:sp>
        <p:nvSpPr>
          <p:cNvPr id="55" name="Google Shape;55;p1"/>
          <p:cNvSpPr txBox="1"/>
          <p:nvPr/>
        </p:nvSpPr>
        <p:spPr>
          <a:xfrm>
            <a:off x="4462790" y="5934738"/>
            <a:ext cx="936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n-IN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DSA</a:t>
            </a: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0201</a:t>
            </a:r>
            <a:r>
              <a:rPr b="1" i="0" lang="en-IN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</a:t>
            </a:r>
            <a:r>
              <a:rPr b="1" lang="en-IN" sz="2400">
                <a:latin typeface="Times New Roman"/>
                <a:ea typeface="Times New Roman"/>
                <a:cs typeface="Times New Roman"/>
                <a:sym typeface="Times New Roman"/>
              </a:rPr>
              <a:t>COMPUTER VISION WITH OPENCV</a:t>
            </a:r>
            <a:endParaRPr/>
          </a:p>
        </p:txBody>
      </p:sp>
      <p:sp>
        <p:nvSpPr>
          <p:cNvPr id="56" name="Google Shape;56;p1"/>
          <p:cNvSpPr txBox="1"/>
          <p:nvPr/>
        </p:nvSpPr>
        <p:spPr>
          <a:xfrm>
            <a:off x="4831775" y="7326675"/>
            <a:ext cx="3648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6538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0" i="0" lang="en-IN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BY: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"/>
          <p:cNvSpPr txBox="1"/>
          <p:nvPr/>
        </p:nvSpPr>
        <p:spPr>
          <a:xfrm>
            <a:off x="1341568" y="3227527"/>
            <a:ext cx="16105200" cy="6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0850" lvl="0" marL="457200" rtl="0" algn="just">
              <a:spcBef>
                <a:spcPts val="0"/>
              </a:spcBef>
              <a:spcAft>
                <a:spcPts val="0"/>
              </a:spcAft>
              <a:buSzPts val="3500"/>
              <a:buChar char="•"/>
            </a:pPr>
            <a:r>
              <a:rPr lang="en-IN" sz="3500">
                <a:latin typeface="Times New Roman"/>
                <a:ea typeface="Times New Roman"/>
                <a:cs typeface="Times New Roman"/>
                <a:sym typeface="Times New Roman"/>
              </a:rPr>
              <a:t>Computer vision enables computers to analyze images and recognize objects using artificial intelligence.</a:t>
            </a:r>
            <a:endParaRPr sz="3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457200" rtl="0" algn="just">
              <a:spcBef>
                <a:spcPts val="0"/>
              </a:spcBef>
              <a:spcAft>
                <a:spcPts val="0"/>
              </a:spcAft>
              <a:buSzPts val="3500"/>
              <a:buChar char="•"/>
            </a:pPr>
            <a:r>
              <a:rPr lang="en-IN" sz="3500">
                <a:latin typeface="Times New Roman"/>
                <a:ea typeface="Times New Roman"/>
                <a:cs typeface="Times New Roman"/>
                <a:sym typeface="Times New Roman"/>
              </a:rPr>
              <a:t>Deep learning models often require significant computational resources, memory and electrical power.</a:t>
            </a:r>
            <a:endParaRPr sz="3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457200" rtl="0" algn="just">
              <a:spcBef>
                <a:spcPts val="0"/>
              </a:spcBef>
              <a:spcAft>
                <a:spcPts val="0"/>
              </a:spcAft>
              <a:buSzPts val="3500"/>
              <a:buChar char="•"/>
            </a:pPr>
            <a:r>
              <a:rPr lang="en-IN" sz="3500">
                <a:latin typeface="Times New Roman"/>
                <a:ea typeface="Times New Roman"/>
                <a:cs typeface="Times New Roman"/>
                <a:sym typeface="Times New Roman"/>
              </a:rPr>
              <a:t>Green computing aims to reduce the environmental impact of computing systems through efficient resource utilization.</a:t>
            </a:r>
            <a:endParaRPr sz="3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457200" rtl="0" algn="just">
              <a:spcBef>
                <a:spcPts val="0"/>
              </a:spcBef>
              <a:spcAft>
                <a:spcPts val="0"/>
              </a:spcAft>
              <a:buSzPts val="3500"/>
              <a:buChar char="•"/>
            </a:pPr>
            <a:r>
              <a:rPr lang="en-IN" sz="3500">
                <a:latin typeface="Times New Roman"/>
                <a:ea typeface="Times New Roman"/>
                <a:cs typeface="Times New Roman"/>
                <a:sym typeface="Times New Roman"/>
              </a:rPr>
              <a:t>Model optimization techniques such as image resizing, quantization and pruning can improve the efficiency of computer vision applications.</a:t>
            </a:r>
            <a:endParaRPr sz="3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457200" rtl="0" algn="just">
              <a:spcBef>
                <a:spcPts val="0"/>
              </a:spcBef>
              <a:spcAft>
                <a:spcPts val="0"/>
              </a:spcAft>
              <a:buSzPts val="3500"/>
              <a:buChar char="•"/>
            </a:pPr>
            <a:r>
              <a:rPr lang="en-IN" sz="3500">
                <a:latin typeface="Times New Roman"/>
                <a:ea typeface="Times New Roman"/>
                <a:cs typeface="Times New Roman"/>
                <a:sym typeface="Times New Roman"/>
              </a:rPr>
              <a:t>This project investigates the relationship between image resolution, model optimization, recognition accuracy, inference time, memory usage and energy consumption.</a:t>
            </a:r>
            <a:endParaRPr sz="3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1028700" y="464002"/>
            <a:ext cx="1597818" cy="188187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15316359" y="464002"/>
            <a:ext cx="2130423" cy="188187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4" name="Google Shape;64;p2"/>
          <p:cNvSpPr txBox="1"/>
          <p:nvPr/>
        </p:nvSpPr>
        <p:spPr>
          <a:xfrm>
            <a:off x="5860689" y="963501"/>
            <a:ext cx="6566622" cy="885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Times New Roman"/>
              <a:buNone/>
            </a:pPr>
            <a:r>
              <a:rPr b="1" i="0" lang="en-IN" sz="4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"/>
          <p:cNvSpPr/>
          <p:nvPr/>
        </p:nvSpPr>
        <p:spPr>
          <a:xfrm>
            <a:off x="1028700" y="464002"/>
            <a:ext cx="1597818" cy="188187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15316359" y="464002"/>
            <a:ext cx="2130423" cy="188187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1" name="Google Shape;71;p4"/>
          <p:cNvSpPr txBox="1"/>
          <p:nvPr/>
        </p:nvSpPr>
        <p:spPr>
          <a:xfrm>
            <a:off x="2850098" y="963502"/>
            <a:ext cx="12242680" cy="885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Times New Roman"/>
              <a:buNone/>
            </a:pPr>
            <a:r>
              <a:rPr b="1" i="0" lang="en-IN" sz="4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/>
          </a:p>
        </p:txBody>
      </p:sp>
      <p:graphicFrame>
        <p:nvGraphicFramePr>
          <p:cNvPr id="72" name="Google Shape;72;p4"/>
          <p:cNvGraphicFramePr/>
          <p:nvPr/>
        </p:nvGraphicFramePr>
        <p:xfrm>
          <a:off x="855966" y="25662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{F1F169A3-1DAD-4F29-A6E8-23A6636AC632}</a:tableStyleId>
              </a:tblPr>
              <a:tblGrid>
                <a:gridCol w="2137475"/>
                <a:gridCol w="2288975"/>
                <a:gridCol w="4756825"/>
                <a:gridCol w="3717725"/>
                <a:gridCol w="3955875"/>
              </a:tblGrid>
              <a:tr h="816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ear of publication 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Authors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45725" marL="457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Title of the paper 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Technologies Used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Identified Gaps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67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I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</a:t>
                      </a:r>
                      <a:r>
                        <a:rPr lang="en-I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I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Desislavov, Martínez-Plumed and Hernández-Orallo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I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Trends in AI Inference Energy Consumption: Beyond the Performance-vs-Parameter Laws of Deep Learning 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I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Examines trends in AI inference energy consumption and the relationship between model performance and computational cost. 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I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Highlights the need to evaluate energy consumption alongside conventional performance measures.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159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I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</a:t>
                      </a:r>
                      <a:r>
                        <a:rPr lang="en-I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I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Hernández, Almeida and Blanco </a:t>
                      </a:r>
                      <a:endParaRPr sz="1800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I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Optimizing Convolutional Neural Networks for IoT Devices: Performance and Energy Efficiency of Quantization Techniques 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I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Evaluates CNN quantization techniques for performance and energy efficiency on IoT devices. 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I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Results depend on model architecture and deployment hardware; further testing across image resolutions and model configurations is useful. 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111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I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</a:t>
                      </a:r>
                      <a:r>
                        <a:rPr lang="en-I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br>
                        <a:rPr lang="en-I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en-I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Zagitov, Chebotareva, Toschev and Magid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I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Comparative Analysis of Neural Network Models Performance on Low-Power Devices for a Real-Time Object Detection Task 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I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Benchmarks object-detection models on low-power devices and examines TensorFlow Lite and quantization techniques. 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I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Focuses on object detection and particular hardware setups; comparisons across additional resolution and energy configurations remain relevant. 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75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I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</a:t>
                      </a:r>
                      <a:r>
                        <a:rPr lang="en-I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I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Yang and Armour </a:t>
                      </a:r>
                      <a:endParaRPr sz="1800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I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Hidden Joules: Evaluating the Energy Consumption of Vision Backbones for Progress Towards More Efficient Model Inference 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I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Evaluates inference energy across 1,200 ImageNet classification models and compares energy use with accuracy. 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I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Broad model-level analysis; a focused interactive comparison of image resolution and quantization for the selected project setup remains useful.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67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IN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</a:t>
                      </a:r>
                      <a:r>
                        <a:rPr lang="en-I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I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Isenkul</a:t>
                      </a:r>
                      <a:endParaRPr sz="1800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I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Energy-Aware Deep Learning for Real-Time Video Analysis Through Pruning, Quantization, and Hardware Optimization 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I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Studies pruning, quantization, and hardware-aware optimization for YOLOv8 and MobileNet. 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I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Focuses on real-time video; single-image classification and resolution-based comparisons could be explored separately.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45725" marL="457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"/>
          <p:cNvSpPr txBox="1"/>
          <p:nvPr/>
        </p:nvSpPr>
        <p:spPr>
          <a:xfrm>
            <a:off x="1495548" y="3072456"/>
            <a:ext cx="15709800" cy="59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0850" lvl="0" marL="457200" rtl="0" algn="just">
              <a:spcBef>
                <a:spcPts val="0"/>
              </a:spcBef>
              <a:spcAft>
                <a:spcPts val="0"/>
              </a:spcAft>
              <a:buSzPts val="3500"/>
              <a:buChar char="•"/>
            </a:pPr>
            <a:r>
              <a:rPr lang="en-IN" sz="3500">
                <a:latin typeface="Times New Roman"/>
                <a:ea typeface="Times New Roman"/>
                <a:cs typeface="Times New Roman"/>
                <a:sym typeface="Times New Roman"/>
              </a:rPr>
              <a:t>Conventional deep learning models can require considerable computational resources for image recognition.</a:t>
            </a:r>
            <a:endParaRPr sz="3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457200" rtl="0" algn="just">
              <a:spcBef>
                <a:spcPts val="0"/>
              </a:spcBef>
              <a:spcAft>
                <a:spcPts val="0"/>
              </a:spcAft>
              <a:buSzPts val="3500"/>
              <a:buChar char="•"/>
            </a:pPr>
            <a:r>
              <a:rPr lang="en-IN" sz="3500">
                <a:latin typeface="Times New Roman"/>
                <a:ea typeface="Times New Roman"/>
                <a:cs typeface="Times New Roman"/>
                <a:sym typeface="Times New Roman"/>
              </a:rPr>
              <a:t>Processing high-resolution images may increase computational workload and inference time.</a:t>
            </a:r>
            <a:endParaRPr sz="3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457200" rtl="0" algn="just">
              <a:spcBef>
                <a:spcPts val="0"/>
              </a:spcBef>
              <a:spcAft>
                <a:spcPts val="0"/>
              </a:spcAft>
              <a:buSzPts val="3500"/>
              <a:buChar char="•"/>
            </a:pPr>
            <a:r>
              <a:rPr lang="en-IN" sz="3500">
                <a:latin typeface="Times New Roman"/>
                <a:ea typeface="Times New Roman"/>
                <a:cs typeface="Times New Roman"/>
                <a:sym typeface="Times New Roman"/>
              </a:rPr>
              <a:t>Model optimization can reduce resource requirements but may also affect recognition accuracy.</a:t>
            </a:r>
            <a:endParaRPr sz="3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457200" rtl="0" algn="just">
              <a:spcBef>
                <a:spcPts val="0"/>
              </a:spcBef>
              <a:spcAft>
                <a:spcPts val="0"/>
              </a:spcAft>
              <a:buSzPts val="3500"/>
              <a:buChar char="•"/>
            </a:pPr>
            <a:r>
              <a:rPr lang="en-IN" sz="3500">
                <a:latin typeface="Times New Roman"/>
                <a:ea typeface="Times New Roman"/>
                <a:cs typeface="Times New Roman"/>
                <a:sym typeface="Times New Roman"/>
              </a:rPr>
              <a:t>The impact of image resolution and model optimization on energy consumption is not always directly comparable across different hardware configurations.</a:t>
            </a:r>
            <a:endParaRPr sz="3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457200" rtl="0" algn="just">
              <a:spcBef>
                <a:spcPts val="0"/>
              </a:spcBef>
              <a:spcAft>
                <a:spcPts val="0"/>
              </a:spcAft>
              <a:buSzPts val="3500"/>
              <a:buChar char="•"/>
            </a:pPr>
            <a:r>
              <a:rPr lang="en-IN" sz="3500">
                <a:latin typeface="Times New Roman"/>
                <a:ea typeface="Times New Roman"/>
                <a:cs typeface="Times New Roman"/>
                <a:sym typeface="Times New Roman"/>
              </a:rPr>
              <a:t>Therefore, a systematic evaluation is needed to identify efficient computer vision configurations that balance energy consumption, computational performance and accuracy.</a:t>
            </a:r>
            <a:endParaRPr sz="3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1028700" y="464002"/>
            <a:ext cx="1597818" cy="188187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15316359" y="464002"/>
            <a:ext cx="2130423" cy="188187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0" name="Google Shape;80;p3"/>
          <p:cNvSpPr txBox="1"/>
          <p:nvPr/>
        </p:nvSpPr>
        <p:spPr>
          <a:xfrm>
            <a:off x="5860689" y="963501"/>
            <a:ext cx="6566622" cy="885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Times New Roman"/>
              <a:buNone/>
            </a:pPr>
            <a:r>
              <a:rPr b="1" i="0" lang="en-IN" sz="4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"/>
          <p:cNvSpPr txBox="1"/>
          <p:nvPr/>
        </p:nvSpPr>
        <p:spPr>
          <a:xfrm>
            <a:off x="1289071" y="3313677"/>
            <a:ext cx="15709800" cy="53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0850" lvl="0" marL="457200" rtl="0" algn="just">
              <a:spcBef>
                <a:spcPts val="0"/>
              </a:spcBef>
              <a:spcAft>
                <a:spcPts val="0"/>
              </a:spcAft>
              <a:buSzPts val="3500"/>
              <a:buChar char="•"/>
            </a:pPr>
            <a:r>
              <a:rPr lang="en-IN" sz="3500">
                <a:latin typeface="Times New Roman"/>
                <a:ea typeface="Times New Roman"/>
                <a:cs typeface="Times New Roman"/>
                <a:sym typeface="Times New Roman"/>
              </a:rPr>
              <a:t>Develop an interactive web-based computer vision platform using HTML, CSS, JavaScript and Python.</a:t>
            </a:r>
            <a:endParaRPr sz="3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457200" rtl="0" algn="just">
              <a:spcBef>
                <a:spcPts val="0"/>
              </a:spcBef>
              <a:spcAft>
                <a:spcPts val="0"/>
              </a:spcAft>
              <a:buSzPts val="3500"/>
              <a:buChar char="•"/>
            </a:pPr>
            <a:r>
              <a:rPr lang="en-IN" sz="3500">
                <a:latin typeface="Times New Roman"/>
                <a:ea typeface="Times New Roman"/>
                <a:cs typeface="Times New Roman"/>
                <a:sym typeface="Times New Roman"/>
              </a:rPr>
              <a:t>Use OpenCV to upload, resize and preprocess input images at different resolutions.</a:t>
            </a:r>
            <a:endParaRPr sz="3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457200" rtl="0" algn="just">
              <a:spcBef>
                <a:spcPts val="0"/>
              </a:spcBef>
              <a:spcAft>
                <a:spcPts val="0"/>
              </a:spcAft>
              <a:buSzPts val="3500"/>
              <a:buChar char="•"/>
            </a:pPr>
            <a:r>
              <a:rPr lang="en-IN" sz="3500">
                <a:latin typeface="Times New Roman"/>
                <a:ea typeface="Times New Roman"/>
                <a:cs typeface="Times New Roman"/>
                <a:sym typeface="Times New Roman"/>
              </a:rPr>
              <a:t>Integrate a </a:t>
            </a:r>
            <a:r>
              <a:rPr lang="en-IN" sz="3500">
                <a:latin typeface="Times New Roman"/>
                <a:ea typeface="Times New Roman"/>
                <a:cs typeface="Times New Roman"/>
                <a:sym typeface="Times New Roman"/>
              </a:rPr>
              <a:t>pre trained</a:t>
            </a:r>
            <a:r>
              <a:rPr lang="en-IN" sz="3500">
                <a:latin typeface="Times New Roman"/>
                <a:ea typeface="Times New Roman"/>
                <a:cs typeface="Times New Roman"/>
                <a:sym typeface="Times New Roman"/>
              </a:rPr>
              <a:t> MobileNet model to perform image classification.</a:t>
            </a:r>
            <a:endParaRPr sz="3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457200" rtl="0" algn="just">
              <a:spcBef>
                <a:spcPts val="0"/>
              </a:spcBef>
              <a:spcAft>
                <a:spcPts val="0"/>
              </a:spcAft>
              <a:buSzPts val="3500"/>
              <a:buChar char="•"/>
            </a:pPr>
            <a:r>
              <a:rPr lang="en-IN" sz="3500">
                <a:latin typeface="Times New Roman"/>
                <a:ea typeface="Times New Roman"/>
                <a:cs typeface="Times New Roman"/>
                <a:sym typeface="Times New Roman"/>
              </a:rPr>
              <a:t>Apply TensorFlow Lite quantization to create an optimized model and compare it with the baseline model.</a:t>
            </a:r>
            <a:endParaRPr sz="3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457200" rtl="0" algn="just">
              <a:spcBef>
                <a:spcPts val="0"/>
              </a:spcBef>
              <a:spcAft>
                <a:spcPts val="0"/>
              </a:spcAft>
              <a:buSzPts val="3500"/>
              <a:buChar char="•"/>
            </a:pPr>
            <a:r>
              <a:rPr lang="en-IN" sz="3500">
                <a:latin typeface="Times New Roman"/>
                <a:ea typeface="Times New Roman"/>
                <a:cs typeface="Times New Roman"/>
                <a:sym typeface="Times New Roman"/>
              </a:rPr>
              <a:t>Measure and display classification accuracy, inference time, model size and memory usage, along with measured or appropriately estimated energy consumption.</a:t>
            </a:r>
            <a:endParaRPr sz="3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457200" rtl="0" algn="just">
              <a:spcBef>
                <a:spcPts val="0"/>
              </a:spcBef>
              <a:spcAft>
                <a:spcPts val="0"/>
              </a:spcAft>
              <a:buSzPts val="3500"/>
              <a:buChar char="•"/>
            </a:pPr>
            <a:r>
              <a:rPr lang="en-IN" sz="3500">
                <a:latin typeface="Times New Roman"/>
                <a:ea typeface="Times New Roman"/>
                <a:cs typeface="Times New Roman"/>
                <a:sym typeface="Times New Roman"/>
              </a:rPr>
              <a:t>Generate interactive charts and comparative calculations to identify the most efficient configuration while maintaining acceptable recognition accuracy.</a:t>
            </a:r>
            <a:endParaRPr sz="3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1028700" y="464002"/>
            <a:ext cx="1597818" cy="188187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15316359" y="464002"/>
            <a:ext cx="2130423" cy="188187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5860689" y="963501"/>
            <a:ext cx="6566622" cy="885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Times New Roman"/>
              <a:buNone/>
            </a:pPr>
            <a:r>
              <a:rPr b="1" i="0" lang="en-IN" sz="4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SYSTEM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/>
          <p:nvPr/>
        </p:nvSpPr>
        <p:spPr>
          <a:xfrm>
            <a:off x="1028700" y="464002"/>
            <a:ext cx="1597818" cy="188187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15316359" y="464002"/>
            <a:ext cx="2130423" cy="188187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" name="Google Shape;95;p6"/>
          <p:cNvSpPr txBox="1"/>
          <p:nvPr/>
        </p:nvSpPr>
        <p:spPr>
          <a:xfrm>
            <a:off x="2850098" y="963502"/>
            <a:ext cx="12242680" cy="885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Times New Roman"/>
              <a:buNone/>
            </a:pPr>
            <a:r>
              <a:rPr b="1" i="0" lang="en-IN" sz="4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ARCHITECTURE</a:t>
            </a:r>
            <a:endParaRPr/>
          </a:p>
        </p:txBody>
      </p:sp>
      <p:pic>
        <p:nvPicPr>
          <p:cNvPr id="96" name="Google Shape;96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78918" y="2001523"/>
            <a:ext cx="12199615" cy="8133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8"/>
          <p:cNvSpPr txBox="1"/>
          <p:nvPr/>
        </p:nvSpPr>
        <p:spPr>
          <a:xfrm>
            <a:off x="1284420" y="3068891"/>
            <a:ext cx="15978900" cy="53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0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500"/>
              <a:buChar char="•"/>
            </a:pPr>
            <a:r>
              <a:rPr lang="en-IN" sz="3500">
                <a:latin typeface="Times New Roman"/>
                <a:ea typeface="Times New Roman"/>
                <a:cs typeface="Times New Roman"/>
                <a:sym typeface="Times New Roman"/>
              </a:rPr>
              <a:t>Accepts input images and applies preprocessing using OpenCV.</a:t>
            </a:r>
            <a:endParaRPr sz="3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500"/>
              <a:buChar char="•"/>
            </a:pPr>
            <a:r>
              <a:rPr lang="en-IN" sz="3500">
                <a:latin typeface="Times New Roman"/>
                <a:ea typeface="Times New Roman"/>
                <a:cs typeface="Times New Roman"/>
                <a:sym typeface="Times New Roman"/>
              </a:rPr>
              <a:t>Tests different image resolutions to evaluate computational efficiency.</a:t>
            </a:r>
            <a:endParaRPr sz="3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500"/>
              <a:buChar char="•"/>
            </a:pPr>
            <a:r>
              <a:rPr lang="en-IN" sz="3500">
                <a:latin typeface="Times New Roman"/>
                <a:ea typeface="Times New Roman"/>
                <a:cs typeface="Times New Roman"/>
                <a:sym typeface="Times New Roman"/>
              </a:rPr>
              <a:t>Performs image classification using a pretrained MobileNet model.</a:t>
            </a:r>
            <a:endParaRPr sz="3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500"/>
              <a:buChar char="•"/>
            </a:pPr>
            <a:r>
              <a:rPr lang="en-IN" sz="3500">
                <a:latin typeface="Times New Roman"/>
                <a:ea typeface="Times New Roman"/>
                <a:cs typeface="Times New Roman"/>
                <a:sym typeface="Times New Roman"/>
              </a:rPr>
              <a:t>Applies quantization to reduce model size and resource requirements.</a:t>
            </a:r>
            <a:endParaRPr sz="3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500"/>
              <a:buChar char="•"/>
            </a:pPr>
            <a:r>
              <a:rPr lang="en-IN" sz="3500">
                <a:latin typeface="Times New Roman"/>
                <a:ea typeface="Times New Roman"/>
                <a:cs typeface="Times New Roman"/>
                <a:sym typeface="Times New Roman"/>
              </a:rPr>
              <a:t>Measures accuracy, inference time, memory usage and energy consumption.</a:t>
            </a:r>
            <a:endParaRPr sz="3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0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500"/>
              <a:buChar char="•"/>
            </a:pPr>
            <a:r>
              <a:rPr lang="en-IN" sz="3500">
                <a:latin typeface="Times New Roman"/>
                <a:ea typeface="Times New Roman"/>
                <a:cs typeface="Times New Roman"/>
                <a:sym typeface="Times New Roman"/>
              </a:rPr>
              <a:t>Displays comparative results and efficiency calculations through an interactive dashboard.</a:t>
            </a:r>
            <a:endParaRPr sz="3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8"/>
          <p:cNvSpPr/>
          <p:nvPr/>
        </p:nvSpPr>
        <p:spPr>
          <a:xfrm>
            <a:off x="718938" y="464002"/>
            <a:ext cx="1597818" cy="188187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" name="Google Shape;103;p8"/>
          <p:cNvSpPr/>
          <p:nvPr/>
        </p:nvSpPr>
        <p:spPr>
          <a:xfrm>
            <a:off x="15803663" y="464002"/>
            <a:ext cx="2130423" cy="188187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4" name="Google Shape;104;p8"/>
          <p:cNvSpPr txBox="1"/>
          <p:nvPr/>
        </p:nvSpPr>
        <p:spPr>
          <a:xfrm>
            <a:off x="2661963" y="1024252"/>
            <a:ext cx="12796500" cy="18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04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1" lang="en-IN" sz="4400">
                <a:latin typeface="Times New Roman"/>
                <a:ea typeface="Times New Roman"/>
                <a:cs typeface="Times New Roman"/>
                <a:sym typeface="Times New Roman"/>
              </a:rPr>
              <a:t>GREEN COMPUTER VISION OPTIMIZATION</a:t>
            </a:r>
            <a:r>
              <a:rPr b="1" lang="en-IN" sz="4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marR="0" rtl="0" algn="ctr">
              <a:lnSpc>
                <a:spcPct val="1704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t/>
            </a:r>
            <a:endParaRPr b="1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 txBox="1"/>
          <p:nvPr/>
        </p:nvSpPr>
        <p:spPr>
          <a:xfrm>
            <a:off x="1502475" y="2654700"/>
            <a:ext cx="7418700" cy="6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2800">
                <a:latin typeface="Times New Roman"/>
                <a:ea typeface="Times New Roman"/>
                <a:cs typeface="Times New Roman"/>
                <a:sym typeface="Times New Roman"/>
              </a:rPr>
              <a:t>Programming &amp; Web Development</a:t>
            </a:r>
            <a:endParaRPr b="1"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Font typeface="Times New Roman"/>
              <a:buChar char="●"/>
            </a:pPr>
            <a:r>
              <a:rPr lang="en-IN" sz="2800">
                <a:latin typeface="Times New Roman"/>
                <a:ea typeface="Times New Roman"/>
                <a:cs typeface="Times New Roman"/>
                <a:sym typeface="Times New Roman"/>
              </a:rPr>
              <a:t>Python – Core programming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Char char="●"/>
            </a:pPr>
            <a:r>
              <a:rPr lang="en-IN" sz="2800">
                <a:latin typeface="Times New Roman"/>
                <a:ea typeface="Times New Roman"/>
                <a:cs typeface="Times New Roman"/>
                <a:sym typeface="Times New Roman"/>
              </a:rPr>
              <a:t>HTML5 – Webpage structure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Char char="●"/>
            </a:pPr>
            <a:r>
              <a:rPr lang="en-IN" sz="2800">
                <a:latin typeface="Times New Roman"/>
                <a:ea typeface="Times New Roman"/>
                <a:cs typeface="Times New Roman"/>
                <a:sym typeface="Times New Roman"/>
              </a:rPr>
              <a:t>CSS3 – Dashboard styling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Char char="●"/>
            </a:pPr>
            <a:r>
              <a:rPr lang="en-IN" sz="2800">
                <a:latin typeface="Times New Roman"/>
                <a:ea typeface="Times New Roman"/>
                <a:cs typeface="Times New Roman"/>
                <a:sym typeface="Times New Roman"/>
              </a:rPr>
              <a:t>JavaScript – Interactivity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Char char="●"/>
            </a:pPr>
            <a:r>
              <a:rPr lang="en-IN" sz="2800">
                <a:latin typeface="Times New Roman"/>
                <a:ea typeface="Times New Roman"/>
                <a:cs typeface="Times New Roman"/>
                <a:sym typeface="Times New Roman"/>
              </a:rPr>
              <a:t>Flask – Backend integration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2800">
                <a:latin typeface="Times New Roman"/>
                <a:ea typeface="Times New Roman"/>
                <a:cs typeface="Times New Roman"/>
                <a:sym typeface="Times New Roman"/>
              </a:rPr>
              <a:t>Computer Vision &amp; Deep Learning</a:t>
            </a:r>
            <a:endParaRPr b="1"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Font typeface="Times New Roman"/>
              <a:buChar char="●"/>
            </a:pPr>
            <a:r>
              <a:rPr lang="en-IN" sz="2800">
                <a:latin typeface="Times New Roman"/>
                <a:ea typeface="Times New Roman"/>
                <a:cs typeface="Times New Roman"/>
                <a:sym typeface="Times New Roman"/>
              </a:rPr>
              <a:t>OpenCV – Image processing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Char char="●"/>
            </a:pPr>
            <a:r>
              <a:rPr lang="en-IN" sz="2800">
                <a:latin typeface="Times New Roman"/>
                <a:ea typeface="Times New Roman"/>
                <a:cs typeface="Times New Roman"/>
                <a:sym typeface="Times New Roman"/>
              </a:rPr>
              <a:t>MobileNet – Image classification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Char char="●"/>
            </a:pPr>
            <a:r>
              <a:rPr lang="en-IN" sz="2800">
                <a:latin typeface="Times New Roman"/>
                <a:ea typeface="Times New Roman"/>
                <a:cs typeface="Times New Roman"/>
                <a:sym typeface="Times New Roman"/>
              </a:rPr>
              <a:t>TensorFlow – Model execution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Char char="●"/>
            </a:pPr>
            <a:r>
              <a:rPr lang="en-IN" sz="2800">
                <a:latin typeface="Times New Roman"/>
                <a:ea typeface="Times New Roman"/>
                <a:cs typeface="Times New Roman"/>
                <a:sym typeface="Times New Roman"/>
              </a:rPr>
              <a:t>TensorFlow Lite – Model optimization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Char char="●"/>
            </a:pPr>
            <a:r>
              <a:rPr lang="en-IN" sz="2800">
                <a:latin typeface="Times New Roman"/>
                <a:ea typeface="Times New Roman"/>
                <a:cs typeface="Times New Roman"/>
                <a:sym typeface="Times New Roman"/>
              </a:rPr>
              <a:t>NumPy – Numerical calculations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0" name="Google Shape;110;p13"/>
          <p:cNvSpPr/>
          <p:nvPr/>
        </p:nvSpPr>
        <p:spPr>
          <a:xfrm>
            <a:off x="1028700" y="464002"/>
            <a:ext cx="1597818" cy="188187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1" name="Google Shape;111;p13"/>
          <p:cNvSpPr/>
          <p:nvPr/>
        </p:nvSpPr>
        <p:spPr>
          <a:xfrm>
            <a:off x="15316359" y="464002"/>
            <a:ext cx="2130423" cy="188187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2" name="Google Shape;112;p13"/>
          <p:cNvSpPr txBox="1"/>
          <p:nvPr/>
        </p:nvSpPr>
        <p:spPr>
          <a:xfrm>
            <a:off x="2850098" y="963502"/>
            <a:ext cx="12242680" cy="885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Times New Roman"/>
              <a:buNone/>
            </a:pPr>
            <a:r>
              <a:rPr b="1" i="0" lang="en-IN" sz="4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TOOLS &amp; TECHNOLOGIES</a:t>
            </a:r>
            <a:endParaRPr/>
          </a:p>
        </p:txBody>
      </p:sp>
      <p:sp>
        <p:nvSpPr>
          <p:cNvPr id="113" name="Google Shape;113;p13"/>
          <p:cNvSpPr txBox="1"/>
          <p:nvPr/>
        </p:nvSpPr>
        <p:spPr>
          <a:xfrm>
            <a:off x="9748675" y="2654692"/>
            <a:ext cx="7698000" cy="59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2800">
                <a:latin typeface="Times New Roman"/>
                <a:ea typeface="Times New Roman"/>
                <a:cs typeface="Times New Roman"/>
                <a:sym typeface="Times New Roman"/>
              </a:rPr>
              <a:t>Model Optimization Techniques</a:t>
            </a:r>
            <a:endParaRPr b="1"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Font typeface="Times New Roman"/>
              <a:buChar char="●"/>
            </a:pPr>
            <a:r>
              <a:rPr lang="en-IN" sz="2800">
                <a:latin typeface="Times New Roman"/>
                <a:ea typeface="Times New Roman"/>
                <a:cs typeface="Times New Roman"/>
                <a:sym typeface="Times New Roman"/>
              </a:rPr>
              <a:t>Quantization – Reduced precision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Char char="●"/>
            </a:pPr>
            <a:r>
              <a:rPr lang="en-IN" sz="2800">
                <a:latin typeface="Times New Roman"/>
                <a:ea typeface="Times New Roman"/>
                <a:cs typeface="Times New Roman"/>
                <a:sym typeface="Times New Roman"/>
              </a:rPr>
              <a:t>Pruning – Weight reduction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Char char="●"/>
            </a:pPr>
            <a:r>
              <a:rPr lang="en-IN" sz="2800">
                <a:latin typeface="Times New Roman"/>
                <a:ea typeface="Times New Roman"/>
                <a:cs typeface="Times New Roman"/>
                <a:sym typeface="Times New Roman"/>
              </a:rPr>
              <a:t>Image Resizing – Resolution optimization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Char char="●"/>
            </a:pPr>
            <a:r>
              <a:rPr lang="en-IN" sz="2800">
                <a:latin typeface="Times New Roman"/>
                <a:ea typeface="Times New Roman"/>
                <a:cs typeface="Times New Roman"/>
                <a:sym typeface="Times New Roman"/>
              </a:rPr>
              <a:t>Image Preprocessing – Input preparation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2800">
                <a:latin typeface="Times New Roman"/>
                <a:ea typeface="Times New Roman"/>
                <a:cs typeface="Times New Roman"/>
                <a:sym typeface="Times New Roman"/>
              </a:rPr>
              <a:t>Performance Evaluation &amp; Visualization</a:t>
            </a:r>
            <a:endParaRPr b="1"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Font typeface="Times New Roman"/>
              <a:buChar char="●"/>
            </a:pPr>
            <a:r>
              <a:rPr lang="en-IN" sz="2800">
                <a:latin typeface="Times New Roman"/>
                <a:ea typeface="Times New Roman"/>
                <a:cs typeface="Times New Roman"/>
                <a:sym typeface="Times New Roman"/>
              </a:rPr>
              <a:t>Matplotlib – Graph plotting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Char char="●"/>
            </a:pPr>
            <a:r>
              <a:rPr lang="en-IN" sz="2800">
                <a:latin typeface="Times New Roman"/>
                <a:ea typeface="Times New Roman"/>
                <a:cs typeface="Times New Roman"/>
                <a:sym typeface="Times New Roman"/>
              </a:rPr>
              <a:t>Plotly – Interactive charts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Char char="●"/>
            </a:pPr>
            <a:r>
              <a:rPr lang="en-IN" sz="2800">
                <a:latin typeface="Times New Roman"/>
                <a:ea typeface="Times New Roman"/>
                <a:cs typeface="Times New Roman"/>
                <a:sym typeface="Times New Roman"/>
              </a:rPr>
              <a:t>Time Measurement – Inference speed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Char char="●"/>
            </a:pPr>
            <a:r>
              <a:rPr lang="en-IN" sz="2800">
                <a:latin typeface="Times New Roman"/>
                <a:ea typeface="Times New Roman"/>
                <a:cs typeface="Times New Roman"/>
                <a:sym typeface="Times New Roman"/>
              </a:rPr>
              <a:t>Memory Profiling – Memory usage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Char char="●"/>
            </a:pPr>
            <a:r>
              <a:rPr lang="en-IN" sz="2800">
                <a:latin typeface="Times New Roman"/>
                <a:ea typeface="Times New Roman"/>
                <a:cs typeface="Times New Roman"/>
                <a:sym typeface="Times New Roman"/>
              </a:rPr>
              <a:t>Energy Measurement – Power consumption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 txBox="1"/>
          <p:nvPr/>
        </p:nvSpPr>
        <p:spPr>
          <a:xfrm>
            <a:off x="989400" y="2853225"/>
            <a:ext cx="16309200" cy="67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Smart Surveillance Systems</a:t>
            </a:r>
            <a:endParaRPr b="1"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Efficient object recognition in CCTV systems can help reduce computing requirements in continuous monitoring applications.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Smart Agriculture</a:t>
            </a:r>
            <a:endParaRPr b="1"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Optimized vision models can support crop disease detection, pest identification and plant monitoring on low-power devices.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Healthcare and Medical Imaging</a:t>
            </a:r>
            <a:endParaRPr b="1"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Efficient image-classification models can support medical image analysis on portable or resource-constrained devices, subject to appropriate clinical validation.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Industrial Inspection</a:t>
            </a:r>
            <a:endParaRPr b="1"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Lightweight vision systems can detect product defects and identify manufacturing issues while reducing processing overhead.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Edge AI and IoT Devices</a:t>
            </a:r>
            <a:endParaRPr b="1"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Optimized computer vision enables image recognition on smart cameras, embedded systems, drones and mobile devices with limited computing resources.</a:t>
            </a:r>
            <a:endParaRPr b="1"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14"/>
          <p:cNvSpPr/>
          <p:nvPr/>
        </p:nvSpPr>
        <p:spPr>
          <a:xfrm>
            <a:off x="1028700" y="464002"/>
            <a:ext cx="1597818" cy="188187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0" name="Google Shape;120;p14"/>
          <p:cNvSpPr/>
          <p:nvPr/>
        </p:nvSpPr>
        <p:spPr>
          <a:xfrm>
            <a:off x="15316359" y="464002"/>
            <a:ext cx="2130423" cy="188187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1" name="Google Shape;121;p14"/>
          <p:cNvSpPr txBox="1"/>
          <p:nvPr/>
        </p:nvSpPr>
        <p:spPr>
          <a:xfrm>
            <a:off x="2850098" y="963502"/>
            <a:ext cx="122427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Times New Roman"/>
              <a:buNone/>
            </a:pPr>
            <a:r>
              <a:rPr b="1" i="0" lang="en-IN" sz="4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</a:t>
            </a:r>
            <a:r>
              <a:rPr b="1" lang="en-IN" sz="4500">
                <a:latin typeface="Times New Roman"/>
                <a:ea typeface="Times New Roman"/>
                <a:cs typeface="Times New Roman"/>
                <a:sym typeface="Times New Roman"/>
              </a:rPr>
              <a:t> - </a:t>
            </a:r>
            <a:r>
              <a:rPr b="1" i="0" lang="en-IN" sz="4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WORLD APPLICATIONS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5"/>
          <p:cNvSpPr txBox="1"/>
          <p:nvPr/>
        </p:nvSpPr>
        <p:spPr>
          <a:xfrm>
            <a:off x="5311678" y="3298508"/>
            <a:ext cx="78810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9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0"/>
              <a:buFont typeface="Times New Roman"/>
              <a:buNone/>
            </a:pPr>
            <a:r>
              <a:rPr b="1" i="0" lang="en-IN" sz="9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YOU!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7768258" y="5770874"/>
            <a:ext cx="296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538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b="0" i="0" lang="en-IN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ANY QUESTIONS?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1028700" y="464002"/>
            <a:ext cx="1597818" cy="188187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15316359" y="464002"/>
            <a:ext cx="2130423" cy="188187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harini raja</dc:creator>
</cp:coreProperties>
</file>